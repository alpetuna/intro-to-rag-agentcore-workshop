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292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3733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F97316"/>
                </a:solidFill>
              </a:rPr>
              <a:t>WORKSHOP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Intro to RAG with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274320" y="16002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38BDF8"/>
                </a:solidFill>
              </a:rPr>
              <a:t>Amazon Bedrock AgentCore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74320" y="26060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</a:rPr>
              <a:t>Build a production-ready RAG system — from raw embeddings to a deployed agent with memory &amp; observability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3611880"/>
            <a:ext cx="2103120" cy="822960"/>
          </a:xfrm>
          <a:prstGeom prst="rect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</a:rPr>
              <a:t>1.5 hrs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4023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Duration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3611880"/>
            <a:ext cx="2103120" cy="822960"/>
          </a:xfrm>
          <a:prstGeom prst="rect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5176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</a:rPr>
              <a:t>4 Stages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4023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Progressive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3611880"/>
            <a:ext cx="2103120" cy="822960"/>
          </a:xfrm>
          <a:prstGeom prst="rect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</a:rPr>
              <a:t>AWS Bedrock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0" y="4023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Powered by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0" y="457200"/>
            <a:ext cx="1645920" cy="1645920"/>
          </a:xfrm>
          <a:prstGeom prst="ellipse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0" y="6400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🧠</a:t>
            </a:r>
            <a:endParaRPr lang="en-US" sz="4400" dirty="0"/>
          </a:p>
        </p:txBody>
      </p:sp>
      <p:sp>
        <p:nvSpPr>
          <p:cNvPr id="18" name="Shape 16"/>
          <p:cNvSpPr/>
          <p:nvPr/>
        </p:nvSpPr>
        <p:spPr>
          <a:xfrm>
            <a:off x="6675120" y="2286000"/>
            <a:ext cx="1280160" cy="1280160"/>
          </a:xfrm>
          <a:prstGeom prst="ellipse">
            <a:avLst/>
          </a:prstGeom>
          <a:solidFill>
            <a:srgbClr val="1A5276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675120" y="237744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🗄</a:t>
            </a:r>
            <a:endParaRPr lang="en-US" sz="3200" dirty="0"/>
          </a:p>
        </p:txBody>
      </p:sp>
      <p:sp>
        <p:nvSpPr>
          <p:cNvPr id="20" name="Shape 18"/>
          <p:cNvSpPr/>
          <p:nvPr/>
        </p:nvSpPr>
        <p:spPr>
          <a:xfrm>
            <a:off x="8046720" y="2194560"/>
            <a:ext cx="1005840" cy="1005840"/>
          </a:xfrm>
          <a:prstGeom prst="ellipse">
            <a:avLst/>
          </a:prstGeom>
          <a:solidFill>
            <a:srgbClr val="4A1D96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46720" y="22402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BDF8"/>
                </a:solidFill>
              </a:rPr>
              <a:t>WHAT IS RAG?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1828800"/>
          </a:xfrm>
          <a:prstGeom prst="rect">
            <a:avLst/>
          </a:prstGeom>
          <a:solidFill>
            <a:srgbClr val="0E3A5C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Retrieval-Augmented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Generation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RAG combines the power of a knowledge base with a large language model. Instead of relying on the model's training data alone, RAG retrieves relevant documents at query time and injects them into the prompt — grounding answers in your actual data.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63440" y="822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8BDF8"/>
                </a:solidFill>
              </a:rPr>
              <a:t>Why RAG?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63440" y="12801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2C55E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Up-to-date knowledge beyond training cutoff
</a:t>
            </a:r>
            <a:r>
              <a:rPr lang="en-US" sz="1300" b="1" dirty="0">
                <a:solidFill>
                  <a:srgbClr val="22C55E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Answers grounded in your private documents
</a:t>
            </a:r>
            <a:r>
              <a:rPr lang="en-US" sz="1300" b="1" dirty="0">
                <a:solidFill>
                  <a:srgbClr val="22C55E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Cite sources — auditable &amp; trustworthy
</a:t>
            </a:r>
            <a:r>
              <a:rPr lang="en-US" sz="1300" b="1" dirty="0">
                <a:solidFill>
                  <a:srgbClr val="22C55E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No fine-tuning required
</a:t>
            </a:r>
            <a:r>
              <a:rPr lang="en-US" sz="1300" b="1" dirty="0">
                <a:solidFill>
                  <a:srgbClr val="22C55E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Cost-effective vs full model retraining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28346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</a:rPr>
              <a:t>The RAG Pipeline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3246120"/>
            <a:ext cx="886968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BDF8"/>
                </a:solidFill>
              </a:rPr>
              <a:t>WORKSHOP OVERVIEW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</a:rPr>
              <a:t>Five progressive stages — each one builds on the last</a:t>
            </a:r>
            <a:endParaRPr lang="en-US" sz="1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188720"/>
            <a:ext cx="8869680" cy="1691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063240"/>
            <a:ext cx="4206240" cy="868680"/>
          </a:xfrm>
          <a:prstGeom prst="rect">
            <a:avLst/>
          </a:prstGeom>
          <a:solidFill>
            <a:srgbClr val="1A5276"/>
          </a:solidFill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3063240"/>
            <a:ext cx="1005840" cy="86868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228600" y="32278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8BDF8"/>
                </a:solidFill>
              </a:rPr>
              <a:t>Stage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Basic RAG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80160" y="34472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Titan Embed + FAISS + Claude — every step visible in ~100 lines of Python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3063240"/>
            <a:ext cx="4206240" cy="868680"/>
          </a:xfrm>
          <a:prstGeom prst="rect">
            <a:avLst/>
          </a:prstGeom>
          <a:solidFill>
            <a:srgbClr val="0891B2"/>
          </a:solidFill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09160" y="3063240"/>
            <a:ext cx="1005840" cy="86868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709160" y="32278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8BDF8"/>
                </a:solidFill>
              </a:rPr>
              <a:t>Stage 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76072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Bedrock KB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760720" y="34472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Managed chunking, OpenSearch Serverless, hybrid search &amp; citations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28600" y="4069080"/>
            <a:ext cx="4206240" cy="868680"/>
          </a:xfrm>
          <a:prstGeom prst="rect">
            <a:avLst/>
          </a:prstGeom>
          <a:solidFill>
            <a:srgbClr val="166534"/>
          </a:solidFill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228600" y="4069080"/>
            <a:ext cx="1005840" cy="86868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228600" y="42336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8BDF8"/>
                </a:solidFill>
              </a:rPr>
              <a:t>Stage 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28016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AgentCore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80160" y="445312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Strands agent → Docker → ECR → AgentCore Runtime with WebSocket streaming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709160" y="4069080"/>
            <a:ext cx="4206240" cy="868680"/>
          </a:xfrm>
          <a:prstGeom prst="rect">
            <a:avLst/>
          </a:prstGeom>
          <a:solidFill>
            <a:srgbClr val="5B21B6"/>
          </a:solidFill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709160" y="4069080"/>
            <a:ext cx="1005840" cy="86868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709160" y="42336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8BDF8"/>
                </a:solidFill>
              </a:rPr>
              <a:t>Stage 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76072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Production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760720" y="445312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Memory, Observability (X-Ray), RAG Evaluation &amp; Gateway MCP tool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97316"/>
                </a:solidFill>
              </a:rPr>
              <a:t>STAGE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Basic RAG from Scratch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182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97316"/>
                </a:solidFill>
              </a:rPr>
              <a:t>20 min  ·  &lt; $0.05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</a:rPr>
              <a:t>The Pipeline (fully visible, ~100 lines of Python)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143000"/>
            <a:ext cx="8869680" cy="1783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017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</a:rPr>
              <a:t>What You Run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74320" y="3429000"/>
            <a:ext cx="4206240" cy="3383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74320" y="3429000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13232" y="34381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chunk_and_embed.py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6027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Chunk docs → Titan Embed V2 → save FAISS index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4320" y="3813048"/>
            <a:ext cx="4206240" cy="3383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74320" y="3813048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</a:rPr>
              <a:t>02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8221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retrieve.py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13232" y="398678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Similarity search with configurable Top-K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74320" y="4197096"/>
            <a:ext cx="4206240" cy="3383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274320" y="4197096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13232" y="42062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rag_pipeline.py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13232" y="4370832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Full pipeline with --show-prompt flag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74320" y="4581144"/>
            <a:ext cx="4206240" cy="3383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274320" y="4581144"/>
            <a:ext cx="411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</a:rPr>
              <a:t>04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13232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interactive_chat.py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3232" y="475488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Multi-turn RAG conversation with stats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754880" y="3017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</a:rPr>
              <a:t>Key Concepts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754880" y="3429000"/>
            <a:ext cx="4160520" cy="365760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80060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✂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285232" y="35204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Fixed-size chunking with overlap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754880" y="3840480"/>
            <a:ext cx="4160520" cy="365760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80060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285232" y="3931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Normalized embeddings → cosine sim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754880" y="4251960"/>
            <a:ext cx="4160520" cy="365760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4800600" y="4251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285232" y="43434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FAISS IndexFlatIP exact search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754880" y="4663440"/>
            <a:ext cx="4160520" cy="365760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800600" y="4663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🗣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5285232" y="47548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Context injection into Claude prompt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4D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97316"/>
                </a:solidFill>
              </a:rPr>
              <a:t>STAGE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Amazon Bedrock Knowledge Base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182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97316"/>
                </a:solidFill>
              </a:rPr>
              <a:t>25 min  ·  ~$0.48/hr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</a:rPr>
              <a:t>Managed Architecture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0"/>
            <a:ext cx="8869680" cy="1874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063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</a:rPr>
              <a:t>Stage 1 vs Stage 2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29000"/>
            <a:ext cx="85953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3716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</a:rPr>
              <a:t>HYBRID SEARCH — Why It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4251960" cy="5029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82296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🧮  Dense Search Only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472184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</a:rPr>
              <a:t>•  </a:t>
            </a:r>
            <a:r>
              <a:rPr lang="en-US" sz="1200" dirty="0">
                <a:solidFill>
                  <a:srgbClr val="FFFFFF"/>
                </a:solidFill>
              </a:rPr>
              <a:t>Semantic similarity via embeddings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2075688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130552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</a:rPr>
              <a:t>•  </a:t>
            </a:r>
            <a:r>
              <a:rPr lang="en-US" sz="1200" dirty="0">
                <a:solidFill>
                  <a:srgbClr val="FFFFFF"/>
                </a:solidFill>
              </a:rPr>
              <a:t>Great for paraphrased questions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2734056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2788920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</a:rPr>
              <a:t>•  </a:t>
            </a:r>
            <a:r>
              <a:rPr lang="en-US" sz="1200" dirty="0">
                <a:solidFill>
                  <a:srgbClr val="FFFFFF"/>
                </a:solidFill>
              </a:rPr>
              <a:t>Misses exact keyword matches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3392424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3447288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</a:rPr>
              <a:t>•  </a:t>
            </a:r>
            <a:r>
              <a:rPr lang="en-US" sz="1200" dirty="0">
                <a:solidFill>
                  <a:srgbClr val="FFFFFF"/>
                </a:solidFill>
              </a:rPr>
              <a:t>Query "Lambda cold start" may miss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chunks with "initialization latency"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777240"/>
            <a:ext cx="4251960" cy="502920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82296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⚡  Hybrid (Dense + BM25)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709160" y="1417320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0600" y="1472184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  </a:t>
            </a:r>
            <a:r>
              <a:rPr lang="en-US" sz="1200" dirty="0">
                <a:solidFill>
                  <a:srgbClr val="FFFFFF"/>
                </a:solidFill>
              </a:rPr>
              <a:t>Dense embeddings + sparse BM25 ranking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09160" y="2075688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00600" y="2130552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  </a:t>
            </a:r>
            <a:r>
              <a:rPr lang="en-US" sz="1200" dirty="0">
                <a:solidFill>
                  <a:srgbClr val="FFFFFF"/>
                </a:solidFill>
              </a:rPr>
              <a:t>Finds semantic AND keyword matches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2734056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0600" y="2788920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  </a:t>
            </a:r>
            <a:r>
              <a:rPr lang="en-US" sz="1200" dirty="0">
                <a:solidFill>
                  <a:srgbClr val="FFFFFF"/>
                </a:solidFill>
              </a:rPr>
              <a:t>Consistently outperforms dense-only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3392424"/>
            <a:ext cx="4251960" cy="594360"/>
          </a:xfrm>
          <a:prstGeom prst="rect">
            <a:avLst/>
          </a:prstGeom>
          <a:solidFill>
            <a:srgbClr val="0A1628"/>
          </a:solidFill>
          <a:ln w="635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00600" y="3447288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  </a:t>
            </a:r>
            <a:r>
              <a:rPr lang="en-US" sz="1200" dirty="0">
                <a:solidFill>
                  <a:srgbClr val="FFFFFF"/>
                </a:solidFill>
              </a:rPr>
              <a:t>Query "Lambda cold start" finds both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semantic AND exact phrase matches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97316"/>
                </a:solidFill>
              </a:rPr>
              <a:t>STAGE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AgentCore Agent — From Code to Cloud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182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97316"/>
                </a:solidFill>
              </a:rPr>
              <a:t>25 min  ·  ~$0.10/hr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</a:rPr>
              <a:t>Architecture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0"/>
            <a:ext cx="8869680" cy="1965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20040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</a:rPr>
              <a:t>What AgentCore Runtime Adds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7432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7432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27432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Auto-scale per session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01168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01168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01168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Session isolation &amp; IAM auth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74904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74904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374904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HTTPS globally routable endpoint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48640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48640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CloudWatch + X-Ray built-in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23760" y="3611880"/>
            <a:ext cx="1600200" cy="1188720"/>
          </a:xfrm>
          <a:prstGeom prst="rect">
            <a:avLst/>
          </a:prstGeom>
          <a:solidFill>
            <a:srgbClr val="2D1B69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223760" y="3657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722376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Pay per invocation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1B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97316"/>
                </a:solidFill>
              </a:rPr>
              <a:t>STAGE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Production Hardening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182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97316"/>
                </a:solidFill>
              </a:rPr>
              <a:t>15 min  ·  ~$0.05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</a:rPr>
              <a:t>Four essentials every production RAG deployment needs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188720"/>
            <a:ext cx="8869680" cy="1691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74320" y="3017520"/>
            <a:ext cx="8595360" cy="475488"/>
          </a:xfrm>
          <a:prstGeom prst="rect">
            <a:avLst/>
          </a:prstGeom>
          <a:solidFill>
            <a:srgbClr val="1A5276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20040" y="301752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96112" y="3054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AgentCore Memory: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651760" y="3072384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Extraction jobs turn conversation transcripts into durable facts. New sessions recall user preferences without re-explaining.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4320" y="3538728"/>
            <a:ext cx="8595360" cy="475488"/>
          </a:xfrm>
          <a:prstGeom prst="rect">
            <a:avLst/>
          </a:prstGeom>
          <a:solidFill>
            <a:srgbClr val="0E7490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320040" y="353872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👁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96112" y="357530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Observability: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51760" y="359359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OpenTelemetry spans — rag.query → rag.embed → rag.retrieve → rag.generate — all visible in CloudWatch X-Ray.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74320" y="4059936"/>
            <a:ext cx="8595360" cy="475488"/>
          </a:xfrm>
          <a:prstGeom prst="rect">
            <a:avLst/>
          </a:prstGeom>
          <a:solidFill>
            <a:srgbClr val="166534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320040" y="405993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96112" y="409651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RAG Evaluation: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651760" y="4114800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RAG Triad: Context Relevance + Faithfulness + Answer Relevance. Run in CI/CD with quality thresholds (e.g. faithfulness &gt; 0.80).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4581144"/>
            <a:ext cx="8595360" cy="475488"/>
          </a:xfrm>
          <a:prstGeom prst="rect">
            <a:avLst/>
          </a:prstGeom>
          <a:solidFill>
            <a:srgbClr val="5B21B6"/>
          </a:solidFill>
          <a:ln w="508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20040" y="4581144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96112" y="46177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Gateway Tool: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2651760" y="46360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Expose the KB as an MCP tool via AgentCore Gateway. Any agent, any framework can discover and call it with Cedar policy controls.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37160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38BDF8"/>
                </a:solidFill>
              </a:rPr>
              <a:t>AWS SERVICES USED IN THIS WORKSHOP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4251960" cy="1261872"/>
          </a:xfrm>
          <a:prstGeom prst="rect">
            <a:avLst/>
          </a:prstGeom>
          <a:solidFill>
            <a:srgbClr val="1A5276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43000" y="9326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Amazon Bedrock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2801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Foundation models, Knowledge Bases, AgentCore Runtime &amp; Memory, Gateway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822960"/>
            <a:ext cx="4251960" cy="1261872"/>
          </a:xfrm>
          <a:prstGeom prst="rect">
            <a:avLst/>
          </a:prstGeom>
          <a:solidFill>
            <a:srgbClr val="0E7490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00600" y="960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🔍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623560" y="9326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OpenSearch Serverless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23560" y="12801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Managed vector index with HNSW — powers hybrid search in Stage 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8600" y="2240280"/>
            <a:ext cx="4251960" cy="1261872"/>
          </a:xfrm>
          <a:prstGeom prst="rect">
            <a:avLst/>
          </a:prstGeom>
          <a:solidFill>
            <a:srgbClr val="1E4D78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🪣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143000" y="235000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Amazon S3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697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Document data source for Bedrock Knowledge Base ingestion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240280"/>
            <a:ext cx="4251960" cy="1261872"/>
          </a:xfrm>
          <a:prstGeom prst="rect">
            <a:avLst/>
          </a:prstGeom>
          <a:solidFill>
            <a:srgbClr val="166534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060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📦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623560" y="235000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Amazon ECR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623560" y="2697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Container registry for Strands agent Docker images in Stage 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8600" y="3657600"/>
            <a:ext cx="4251960" cy="1261872"/>
          </a:xfrm>
          <a:prstGeom prst="rect">
            <a:avLst/>
          </a:prstGeom>
          <a:solidFill>
            <a:srgbClr val="5B21B6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794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🔐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143000" y="3767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AWS IAM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41148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Least-privilege execution roles for Bedrock, ECR, CloudWatch access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657600"/>
            <a:ext cx="4251960" cy="1261872"/>
          </a:xfrm>
          <a:prstGeom prst="rect">
            <a:avLst/>
          </a:prstGeom>
          <a:solidFill>
            <a:srgbClr val="7C3AED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0600" y="3794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5623560" y="3767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CloudWatch + X-Ray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23560" y="41148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Logs, metrics, and distributed traces for the production pipeline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3716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BDF8"/>
                </a:solidFill>
              </a:rPr>
              <a:t>GET STARTED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Quick Start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1261872"/>
            <a:ext cx="3429000" cy="50292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35331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BDF8"/>
                </a:solidFill>
              </a:rPr>
              <a:t>aws sso login --profile &lt;profile&gt;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Authenticate to AWS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167128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2130552"/>
            <a:ext cx="3429000" cy="50292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222199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BDF8"/>
                </a:solidFill>
              </a:rPr>
              <a:t>pip install -r requirements.txt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26791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Install dependencies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3035808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2999232"/>
            <a:ext cx="3429000" cy="50292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8680" y="309067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BDF8"/>
                </a:solidFill>
              </a:rPr>
              <a:t>python stage0-setup/00_check_prerequisites.py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Verify env &amp; model access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904488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3867912"/>
            <a:ext cx="3429000" cy="502920"/>
          </a:xfrm>
          <a:prstGeom prst="rect">
            <a:avLst/>
          </a:prstGeom>
          <a:solidFill>
            <a:srgbClr val="1118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68680" y="395935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BDF8"/>
                </a:solidFill>
              </a:rPr>
              <a:t>cd stage1-basic-rag &amp;&amp; python 01_chunk_and_embed.py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44165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Build your first RAG pipeline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8046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Prerequisites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663440" y="1261872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09160" y="126187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239512" y="13716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Python 3.10+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1920240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09160" y="19202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☁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239512" y="202996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AWS CLI v2 + IAM Identity Center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63440" y="2578608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09160" y="257860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239512" y="268833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Docker 24+ (Stage 3 only)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63440" y="3236976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709160" y="323697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🌎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239512" y="3346704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Region: us-east-1 (model availability)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63440" y="3895344"/>
            <a:ext cx="4251960" cy="566928"/>
          </a:xfrm>
          <a:prstGeom prst="rect">
            <a:avLst/>
          </a:prstGeom>
          <a:solidFill>
            <a:srgbClr val="0E3A5C"/>
          </a:solidFill>
          <a:ln w="635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09160" y="389534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239512" y="400507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Bedrock model access: Titan Embed V2, Claude 3 Haiku, Claude 3.5 Sonnet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28600" y="4617720"/>
            <a:ext cx="868680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</a:rPr>
              <a:t>💰 Cost:  </a:t>
            </a:r>
            <a:r>
              <a:rPr lang="en-US" sz="1100" dirty="0">
                <a:solidFill>
                  <a:srgbClr val="94A3B8"/>
                </a:solidFill>
              </a:rPr>
              <a:t>Stages 0-1: &lt; $0.10  |  Stage 2: ~$0.70/hr (OpenSearch)  |  Stage 3: ~$0.10/hr  |  Stage 4: ~$0.05/hr  — </a:t>
            </a:r>
            <a:r>
              <a:rPr lang="en-US" sz="1100" b="1" dirty="0">
                <a:solidFill>
                  <a:srgbClr val="FFFFFF"/>
                </a:solidFill>
              </a:rPr>
              <a:t>run cleanup.py between stages!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826</Words>
  <Application>Microsoft Office PowerPoint</Application>
  <PresentationFormat>On-screen Show (16:9)</PresentationFormat>
  <Paragraphs>164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RAG with Amazon Bedrock AgentCore</dc:title>
  <dc:subject>PptxGenJS Presentation</dc:subject>
  <dc:creator>PptxGenJS</dc:creator>
  <cp:lastModifiedBy>Alp Tuna</cp:lastModifiedBy>
  <cp:revision>2</cp:revision>
  <dcterms:created xsi:type="dcterms:W3CDTF">2026-06-22T10:40:46Z</dcterms:created>
  <dcterms:modified xsi:type="dcterms:W3CDTF">2026-06-22T13:21:55Z</dcterms:modified>
</cp:coreProperties>
</file>