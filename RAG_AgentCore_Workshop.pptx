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292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733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13541-CCFC-F3F4-B3CC-4C22227BA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AA44D5-2B2C-FDD7-8AD0-6859F44ED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118A1E-17C8-5813-AF4A-128123F6DE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5E8BE-276B-0305-8C5C-43C7C49720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405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7316"/>
                </a:solidFill>
              </a:rPr>
              <a:t>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Intro to RAG with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74320" y="16002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8BDF8"/>
                </a:solidFill>
              </a:rPr>
              <a:t>Amazon Bedrock AgentCore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74320" y="26060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Build a production-ready RAG system — from raw embeddings to a deployed agent with memory &amp; observability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3611880"/>
            <a:ext cx="2103120" cy="822960"/>
          </a:xfrm>
          <a:prstGeom prst="rect">
            <a:avLst/>
          </a:prstGeom>
          <a:solidFill>
            <a:srgbClr val="0E3A5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</a:rPr>
              <a:t>1.5 hrs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4023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Duration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3611880"/>
            <a:ext cx="2103120" cy="822960"/>
          </a:xfrm>
          <a:prstGeom prst="rect">
            <a:avLst/>
          </a:prstGeom>
          <a:solidFill>
            <a:srgbClr val="0E3A5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5176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</a:rPr>
              <a:t>4 Stages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51760" y="4023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Progressive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3611880"/>
            <a:ext cx="2103120" cy="822960"/>
          </a:xfrm>
          <a:prstGeom prst="rect">
            <a:avLst/>
          </a:prstGeom>
          <a:solidFill>
            <a:srgbClr val="0E3A5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</a:rPr>
              <a:t>AWS Bedrock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4023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Powered by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0" y="457200"/>
            <a:ext cx="1645920" cy="1645920"/>
          </a:xfrm>
          <a:prstGeom prst="ellipse">
            <a:avLst/>
          </a:prstGeom>
          <a:solidFill>
            <a:srgbClr val="0E3A5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0" y="6400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🧠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6675120" y="2286000"/>
            <a:ext cx="1280160" cy="128016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0" y="23774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🗄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8046720" y="2194560"/>
            <a:ext cx="1005840" cy="1005840"/>
          </a:xfrm>
          <a:prstGeom prst="ellipse">
            <a:avLst/>
          </a:prstGeom>
          <a:solidFill>
            <a:srgbClr val="4A1D96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046720" y="22402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AD3D6E-4B01-AD5A-F97E-E6DBE00C4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D4E1F2C-37A9-BF80-6C4D-7B8651F9A62F}"/>
              </a:ext>
            </a:extLst>
          </p:cNvPr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0A1A24B-1293-895A-9DB1-6BA652F2BAED}"/>
              </a:ext>
            </a:extLst>
          </p:cNvPr>
          <p:cNvSpPr/>
          <p:nvPr/>
        </p:nvSpPr>
        <p:spPr>
          <a:xfrm>
            <a:off x="27432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97316"/>
                </a:solidFill>
              </a:rPr>
              <a:t>WORKSHOP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1282625-4EBC-A71C-2131-3E17CF2CC6E7}"/>
              </a:ext>
            </a:extLst>
          </p:cNvPr>
          <p:cNvSpPr/>
          <p:nvPr/>
        </p:nvSpPr>
        <p:spPr>
          <a:xfrm>
            <a:off x="274320" y="82296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GitHub Link</a:t>
            </a:r>
            <a:endParaRPr lang="en-US" sz="4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D9D00AE-AA24-A0F5-8C40-5047882C705E}"/>
              </a:ext>
            </a:extLst>
          </p:cNvPr>
          <p:cNvSpPr/>
          <p:nvPr/>
        </p:nvSpPr>
        <p:spPr>
          <a:xfrm>
            <a:off x="274320" y="16002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https://github.com/AlpETuna/intro-to-RAG-Agentcore-Workshop 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30B2C5C-BE4A-2000-8655-273467DDA8C6}"/>
              </a:ext>
            </a:extLst>
          </p:cNvPr>
          <p:cNvSpPr/>
          <p:nvPr/>
        </p:nvSpPr>
        <p:spPr>
          <a:xfrm>
            <a:off x="274320" y="26060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3A1E16E-08D5-961E-7E1D-92443625935D}"/>
              </a:ext>
            </a:extLst>
          </p:cNvPr>
          <p:cNvSpPr/>
          <p:nvPr/>
        </p:nvSpPr>
        <p:spPr>
          <a:xfrm>
            <a:off x="27432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04997A8-7A5A-1C43-CC78-3DF38078EAF3}"/>
              </a:ext>
            </a:extLst>
          </p:cNvPr>
          <p:cNvSpPr/>
          <p:nvPr/>
        </p:nvSpPr>
        <p:spPr>
          <a:xfrm>
            <a:off x="274320" y="4023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143B197-C3EF-2941-C1AE-46898EA14070}"/>
              </a:ext>
            </a:extLst>
          </p:cNvPr>
          <p:cNvSpPr/>
          <p:nvPr/>
        </p:nvSpPr>
        <p:spPr>
          <a:xfrm>
            <a:off x="265176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490F227-C3D9-9EFF-53C2-C6FE0177C7F2}"/>
              </a:ext>
            </a:extLst>
          </p:cNvPr>
          <p:cNvSpPr/>
          <p:nvPr/>
        </p:nvSpPr>
        <p:spPr>
          <a:xfrm>
            <a:off x="2651760" y="4023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42AF7F7-764F-0FD3-0686-7911C5289251}"/>
              </a:ext>
            </a:extLst>
          </p:cNvPr>
          <p:cNvSpPr/>
          <p:nvPr/>
        </p:nvSpPr>
        <p:spPr>
          <a:xfrm>
            <a:off x="5029200" y="3657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E012956-DB1C-6616-C6F9-3020E8F98ADB}"/>
              </a:ext>
            </a:extLst>
          </p:cNvPr>
          <p:cNvSpPr/>
          <p:nvPr/>
        </p:nvSpPr>
        <p:spPr>
          <a:xfrm>
            <a:off x="7315200" y="457200"/>
            <a:ext cx="1645920" cy="1645920"/>
          </a:xfrm>
          <a:prstGeom prst="ellipse">
            <a:avLst/>
          </a:prstGeom>
          <a:solidFill>
            <a:srgbClr val="0E3A5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364DC8D-17FD-4E3A-C213-ECECE4B85F7C}"/>
              </a:ext>
            </a:extLst>
          </p:cNvPr>
          <p:cNvSpPr/>
          <p:nvPr/>
        </p:nvSpPr>
        <p:spPr>
          <a:xfrm>
            <a:off x="7315200" y="64008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🧠</a:t>
            </a:r>
            <a:endParaRPr lang="en-US" sz="44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6D98ADD-1364-67A0-44CA-4C1DB7245B1E}"/>
              </a:ext>
            </a:extLst>
          </p:cNvPr>
          <p:cNvSpPr/>
          <p:nvPr/>
        </p:nvSpPr>
        <p:spPr>
          <a:xfrm>
            <a:off x="6675120" y="2286000"/>
            <a:ext cx="1280160" cy="128016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54BC2A5-B593-8A4D-A9A7-F357E44BF693}"/>
              </a:ext>
            </a:extLst>
          </p:cNvPr>
          <p:cNvSpPr/>
          <p:nvPr/>
        </p:nvSpPr>
        <p:spPr>
          <a:xfrm>
            <a:off x="6675120" y="23774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🗄</a:t>
            </a:r>
            <a:endParaRPr lang="en-US" sz="32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5AA43997-9DD0-0CC3-C335-42B7A8750FC4}"/>
              </a:ext>
            </a:extLst>
          </p:cNvPr>
          <p:cNvSpPr/>
          <p:nvPr/>
        </p:nvSpPr>
        <p:spPr>
          <a:xfrm>
            <a:off x="8046720" y="2194560"/>
            <a:ext cx="1005840" cy="1005840"/>
          </a:xfrm>
          <a:prstGeom prst="ellipse">
            <a:avLst/>
          </a:prstGeom>
          <a:solidFill>
            <a:srgbClr val="4A1D96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52B51C6C-C49D-314C-5D4E-9A444FDE9555}"/>
              </a:ext>
            </a:extLst>
          </p:cNvPr>
          <p:cNvSpPr/>
          <p:nvPr/>
        </p:nvSpPr>
        <p:spPr>
          <a:xfrm>
            <a:off x="8046720" y="22402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pic>
        <p:nvPicPr>
          <p:cNvPr id="22" name="Graphic 21" descr="QR preview">
            <a:extLst>
              <a:ext uri="{FF2B5EF4-FFF2-40B4-BE49-F238E27FC236}">
                <a16:creationId xmlns:a16="http://schemas.microsoft.com/office/drawing/2014/main" id="{5CEFFCD7-37A0-0472-73E0-F5A9F769D4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693" y="2495550"/>
            <a:ext cx="1775062" cy="177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019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8BDF8"/>
                </a:solidFill>
              </a:rPr>
              <a:t>WHAT IS RAG?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828800"/>
          </a:xfrm>
          <a:prstGeom prst="rect">
            <a:avLst/>
          </a:prstGeom>
          <a:solidFill>
            <a:srgbClr val="0E3A5C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Retrieval-Augmented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Generation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RAG combines the power of a knowledge base with a large language model. Instead of relying on the model's training data alone, RAG retrieves relevant documents at query time and injects them into the prompt — grounding answers in your actual data.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822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</a:rPr>
              <a:t>Why RAG?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3440" y="1280160"/>
            <a:ext cx="4206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C55E"/>
                </a:solidFill>
              </a:rPr>
              <a:t>✓  </a:t>
            </a:r>
            <a:r>
              <a:rPr lang="en-US" sz="1300" dirty="0">
                <a:solidFill>
                  <a:srgbClr val="FFFFFF"/>
                </a:solidFill>
              </a:rPr>
              <a:t>Up-to-date knowledge beyond training cutoff
</a:t>
            </a:r>
            <a:r>
              <a:rPr lang="en-US" sz="1300" b="1" dirty="0">
                <a:solidFill>
                  <a:srgbClr val="22C55E"/>
                </a:solidFill>
              </a:rPr>
              <a:t>✓  </a:t>
            </a:r>
            <a:r>
              <a:rPr lang="en-US" sz="1300" dirty="0">
                <a:solidFill>
                  <a:srgbClr val="FFFFFF"/>
                </a:solidFill>
              </a:rPr>
              <a:t>Answers grounded in your private documents
</a:t>
            </a:r>
            <a:r>
              <a:rPr lang="en-US" sz="1300" b="1" dirty="0">
                <a:solidFill>
                  <a:srgbClr val="22C55E"/>
                </a:solidFill>
              </a:rPr>
              <a:t>✓  </a:t>
            </a:r>
            <a:r>
              <a:rPr lang="en-US" sz="1300" dirty="0">
                <a:solidFill>
                  <a:srgbClr val="FFFFFF"/>
                </a:solidFill>
              </a:rPr>
              <a:t>Cite sources — auditable &amp; trustworthy
</a:t>
            </a:r>
            <a:r>
              <a:rPr lang="en-US" sz="1300" b="1" dirty="0">
                <a:solidFill>
                  <a:srgbClr val="22C55E"/>
                </a:solidFill>
              </a:rPr>
              <a:t>✓  </a:t>
            </a:r>
            <a:r>
              <a:rPr lang="en-US" sz="1300" dirty="0">
                <a:solidFill>
                  <a:srgbClr val="FFFFFF"/>
                </a:solidFill>
              </a:rPr>
              <a:t>No fine-tuning required
</a:t>
            </a:r>
            <a:r>
              <a:rPr lang="en-US" sz="1300" b="1" dirty="0">
                <a:solidFill>
                  <a:srgbClr val="22C55E"/>
                </a:solidFill>
              </a:rPr>
              <a:t>✓  </a:t>
            </a:r>
            <a:r>
              <a:rPr lang="en-US" sz="1300" dirty="0">
                <a:solidFill>
                  <a:srgbClr val="FFFFFF"/>
                </a:solidFill>
              </a:rPr>
              <a:t>Cost-effective vs full model retraining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28346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8BDF8"/>
                </a:solidFill>
              </a:rPr>
              <a:t>The RAG Pipeline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3246120"/>
            <a:ext cx="8869680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8BDF8"/>
                </a:solidFill>
              </a:rPr>
              <a:t>WORKSHOP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</a:rPr>
              <a:t>Five progressive stages — each one builds on the last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188720"/>
            <a:ext cx="8869680" cy="1691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3063240"/>
            <a:ext cx="4206240" cy="868680"/>
          </a:xfrm>
          <a:prstGeom prst="rect">
            <a:avLst/>
          </a:prstGeom>
          <a:solidFill>
            <a:srgbClr val="1A5276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28600" y="3063240"/>
            <a:ext cx="1005840" cy="8686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28600" y="322783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Stage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28016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Basic RAG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80160" y="344728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Titan Embed + FAISS + Claude — every step visible in ~100 lines of Python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3063240"/>
            <a:ext cx="4206240" cy="868680"/>
          </a:xfrm>
          <a:prstGeom prst="rect">
            <a:avLst/>
          </a:prstGeom>
          <a:solidFill>
            <a:srgbClr val="0891B2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09160" y="3063240"/>
            <a:ext cx="1005840" cy="8686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09160" y="322783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Stage 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6072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Bedrock KB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760720" y="344728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Managed chunking, OpenSearch Serverless, hybrid search &amp; citations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28600" y="4069080"/>
            <a:ext cx="4206240" cy="868680"/>
          </a:xfrm>
          <a:prstGeom prst="rect">
            <a:avLst/>
          </a:prstGeom>
          <a:solidFill>
            <a:srgbClr val="166534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28600" y="4069080"/>
            <a:ext cx="1005840" cy="8686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28600" y="423367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Stage 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280160" y="4114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AgentCore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280160" y="445312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Strands agent → Docker → ECR → AgentCore Runtime with WebSocket streaming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709160" y="4069080"/>
            <a:ext cx="4206240" cy="868680"/>
          </a:xfrm>
          <a:prstGeom prst="rect">
            <a:avLst/>
          </a:prstGeom>
          <a:solidFill>
            <a:srgbClr val="5B21B6"/>
          </a:solidFill>
          <a:ln w="63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709160" y="4069080"/>
            <a:ext cx="1005840" cy="8686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709160" y="423367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8BDF8"/>
                </a:solidFill>
              </a:rPr>
              <a:t>Stage 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760720" y="4114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Production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760720" y="445312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Memory, Observability, RAG Evaluation &amp; Gateway MCP tool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7316"/>
                </a:solidFill>
              </a:rPr>
              <a:t>STAGE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Basic RAG from Scratch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97316"/>
                </a:solidFill>
              </a:rPr>
              <a:t>20 min  ·  &lt; $0.05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The Pipeline (fully visible, ~100 lines of Python)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143000"/>
            <a:ext cx="8869680" cy="1783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3017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What You Run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" y="3429000"/>
            <a:ext cx="4206240" cy="338328"/>
          </a:xfrm>
          <a:prstGeom prst="rect">
            <a:avLst/>
          </a:prstGeom>
          <a:solidFill>
            <a:srgbClr val="0E3A5C"/>
          </a:solidFill>
          <a:ln w="635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74320" y="3429000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</a:rPr>
              <a:t>01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13232" y="34381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chunk_and_embed.py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13232" y="3602736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Chunk docs → Titan Embed V2 → save FAISS index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4320" y="3813048"/>
            <a:ext cx="4206240" cy="338328"/>
          </a:xfrm>
          <a:prstGeom prst="rect">
            <a:avLst/>
          </a:prstGeom>
          <a:solidFill>
            <a:srgbClr val="0E3A5C"/>
          </a:solidFill>
          <a:ln w="635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74320" y="3813048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13232" y="38221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retrieve.py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13232" y="3986784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Similarity search with configurable Top-K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74320" y="4197096"/>
            <a:ext cx="4206240" cy="338328"/>
          </a:xfrm>
          <a:prstGeom prst="rect">
            <a:avLst/>
          </a:prstGeom>
          <a:solidFill>
            <a:srgbClr val="0E3A5C"/>
          </a:solidFill>
          <a:ln w="635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74320" y="4197096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13232" y="42062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rag_pipeline.py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13232" y="4370832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Full pipeline with --show-prompt flag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74320" y="4581144"/>
            <a:ext cx="4206240" cy="338328"/>
          </a:xfrm>
          <a:prstGeom prst="rect">
            <a:avLst/>
          </a:prstGeom>
          <a:solidFill>
            <a:srgbClr val="0E3A5C"/>
          </a:solidFill>
          <a:ln w="635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74320" y="4581144"/>
            <a:ext cx="411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13232" y="45902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interactive_chat.py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13232" y="475488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Multi-turn RAG conversation with stats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754880" y="3017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Key Concepts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754880" y="3429000"/>
            <a:ext cx="4160520" cy="365760"/>
          </a:xfrm>
          <a:prstGeom prst="rect">
            <a:avLst/>
          </a:prstGeom>
          <a:solidFill>
            <a:srgbClr val="0E3A5C"/>
          </a:solidFill>
          <a:ln w="635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800600" y="3429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✂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285232" y="35204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Fixed-size chunking with overlap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754880" y="3840480"/>
            <a:ext cx="4160520" cy="365760"/>
          </a:xfrm>
          <a:prstGeom prst="rect">
            <a:avLst/>
          </a:prstGeom>
          <a:solidFill>
            <a:srgbClr val="0E3A5C"/>
          </a:solidFill>
          <a:ln w="635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800600" y="3840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📐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285232" y="39319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Normalized embeddings → cosine sim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754880" y="4251960"/>
            <a:ext cx="4160520" cy="365760"/>
          </a:xfrm>
          <a:prstGeom prst="rect">
            <a:avLst/>
          </a:prstGeom>
          <a:solidFill>
            <a:srgbClr val="0E3A5C"/>
          </a:solidFill>
          <a:ln w="635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4800600" y="4251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285232" y="43434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FAISS IndexFlatIP exact search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754880" y="4663440"/>
            <a:ext cx="4160520" cy="365760"/>
          </a:xfrm>
          <a:prstGeom prst="rect">
            <a:avLst/>
          </a:prstGeom>
          <a:solidFill>
            <a:srgbClr val="0E3A5C"/>
          </a:solidFill>
          <a:ln w="635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4800600" y="4663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🗣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285232" y="47548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Context injection into Claude prompt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4D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7316"/>
                </a:solidFill>
              </a:rPr>
              <a:t>STAGE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Amazon Bedrock Knowledge Base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97316"/>
                </a:solidFill>
              </a:rPr>
              <a:t>25 min  ·  ~$0.48/hr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Managed Architecture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0"/>
            <a:ext cx="8869680" cy="1874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3063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Stage 1 vs Stage 2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429000"/>
            <a:ext cx="859536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HYBRID SEARCH — Why It Matters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251960" cy="5029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🧮  Dense Search Only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4251960" cy="594360"/>
          </a:xfrm>
          <a:prstGeom prst="rect">
            <a:avLst/>
          </a:prstGeom>
          <a:solidFill>
            <a:srgbClr val="0A1628"/>
          </a:solidFill>
          <a:ln w="635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472184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</a:rPr>
              <a:t>•  </a:t>
            </a:r>
            <a:r>
              <a:rPr lang="en-US" sz="1200" dirty="0">
                <a:solidFill>
                  <a:srgbClr val="FFFFFF"/>
                </a:solidFill>
              </a:rPr>
              <a:t>Semantic similarity via embeddings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2075688"/>
            <a:ext cx="4251960" cy="594360"/>
          </a:xfrm>
          <a:prstGeom prst="rect">
            <a:avLst/>
          </a:prstGeom>
          <a:solidFill>
            <a:srgbClr val="0A1628"/>
          </a:solidFill>
          <a:ln w="635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2130552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</a:rPr>
              <a:t>•  </a:t>
            </a:r>
            <a:r>
              <a:rPr lang="en-US" sz="1200" dirty="0">
                <a:solidFill>
                  <a:srgbClr val="FFFFFF"/>
                </a:solidFill>
              </a:rPr>
              <a:t>Great for paraphrased questions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2734056"/>
            <a:ext cx="4251960" cy="594360"/>
          </a:xfrm>
          <a:prstGeom prst="rect">
            <a:avLst/>
          </a:prstGeom>
          <a:solidFill>
            <a:srgbClr val="0A1628"/>
          </a:solidFill>
          <a:ln w="635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788920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</a:rPr>
              <a:t>•  </a:t>
            </a:r>
            <a:r>
              <a:rPr lang="en-US" sz="1200" dirty="0">
                <a:solidFill>
                  <a:srgbClr val="FFFFFF"/>
                </a:solidFill>
              </a:rPr>
              <a:t>Misses exact keyword matches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3392424"/>
            <a:ext cx="4251960" cy="594360"/>
          </a:xfrm>
          <a:prstGeom prst="rect">
            <a:avLst/>
          </a:prstGeom>
          <a:solidFill>
            <a:srgbClr val="0A1628"/>
          </a:solidFill>
          <a:ln w="635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3447288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4A3B8"/>
                </a:solidFill>
              </a:rPr>
              <a:t>•  </a:t>
            </a:r>
            <a:r>
              <a:rPr lang="en-US" sz="1200" dirty="0">
                <a:solidFill>
                  <a:srgbClr val="FFFFFF"/>
                </a:solidFill>
              </a:rPr>
              <a:t>Query "Lambda cold start" may miss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chunks with "initialization latency"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777240"/>
            <a:ext cx="4251960" cy="502920"/>
          </a:xfrm>
          <a:prstGeom prst="rect">
            <a:avLst/>
          </a:prstGeom>
          <a:solidFill>
            <a:srgbClr val="16653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82296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⚡  Hybrid (Dense + BM25)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09160" y="1417320"/>
            <a:ext cx="4251960" cy="594360"/>
          </a:xfrm>
          <a:prstGeom prst="rect">
            <a:avLst/>
          </a:prstGeom>
          <a:solidFill>
            <a:srgbClr val="0A1628"/>
          </a:solidFill>
          <a:ln w="635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1472184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  </a:t>
            </a:r>
            <a:r>
              <a:rPr lang="en-US" sz="1200" dirty="0">
                <a:solidFill>
                  <a:srgbClr val="FFFFFF"/>
                </a:solidFill>
              </a:rPr>
              <a:t>Dense embeddings + sparse BM25 ranking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2075688"/>
            <a:ext cx="4251960" cy="594360"/>
          </a:xfrm>
          <a:prstGeom prst="rect">
            <a:avLst/>
          </a:prstGeom>
          <a:solidFill>
            <a:srgbClr val="0A1628"/>
          </a:solidFill>
          <a:ln w="635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0600" y="2130552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  </a:t>
            </a:r>
            <a:r>
              <a:rPr lang="en-US" sz="1200" dirty="0">
                <a:solidFill>
                  <a:srgbClr val="FFFFFF"/>
                </a:solidFill>
              </a:rPr>
              <a:t>Finds semantic AND keyword matches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2734056"/>
            <a:ext cx="4251960" cy="594360"/>
          </a:xfrm>
          <a:prstGeom prst="rect">
            <a:avLst/>
          </a:prstGeom>
          <a:solidFill>
            <a:srgbClr val="0A1628"/>
          </a:solidFill>
          <a:ln w="635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2788920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  </a:t>
            </a:r>
            <a:r>
              <a:rPr lang="en-US" sz="1200" dirty="0">
                <a:solidFill>
                  <a:srgbClr val="FFFFFF"/>
                </a:solidFill>
              </a:rPr>
              <a:t>Consistently outperforms dense-only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3392424"/>
            <a:ext cx="4251960" cy="594360"/>
          </a:xfrm>
          <a:prstGeom prst="rect">
            <a:avLst/>
          </a:prstGeom>
          <a:solidFill>
            <a:srgbClr val="0A1628"/>
          </a:solidFill>
          <a:ln w="6350">
            <a:solidFill>
              <a:srgbClr val="1665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00600" y="3447288"/>
            <a:ext cx="4069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  </a:t>
            </a:r>
            <a:r>
              <a:rPr lang="en-US" sz="1200" dirty="0">
                <a:solidFill>
                  <a:srgbClr val="FFFFFF"/>
                </a:solidFill>
              </a:rPr>
              <a:t>Query "Lambda cold start" finds both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semantic AND exact phrase matches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1B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7316"/>
                </a:solidFill>
              </a:rPr>
              <a:t>STAGE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AgentCore Agent — From Code to Cloud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97316"/>
                </a:solidFill>
              </a:rPr>
              <a:t>25 min  ·  ~$0.10/hr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Architecture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0"/>
            <a:ext cx="8869680" cy="1965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32004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What AgentCore Runtime Adds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74320" y="3611880"/>
            <a:ext cx="1600200" cy="1188720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74320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274320" y="4160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Auto-scale per session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011680" y="3611880"/>
            <a:ext cx="1600200" cy="1188720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011680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011680" y="4160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Session isolation &amp; IAM auth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749040" y="3611880"/>
            <a:ext cx="1600200" cy="1188720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749040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3749040" y="4160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HTTPS globally routable endpoint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486400" y="3611880"/>
            <a:ext cx="1600200" cy="1188720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486400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5486400" y="4160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CloudWatch + X-Ray built-in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223760" y="3611880"/>
            <a:ext cx="1600200" cy="1188720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223760" y="36576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7223760" y="41605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Pay per invocation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7316"/>
                </a:solidFill>
              </a:rPr>
              <a:t>STAGE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292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Production Hardening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182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97316"/>
                </a:solidFill>
              </a:rPr>
              <a:t>15 min  ·  ~$0.05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Four essentials every production RAG deployment needs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188720"/>
            <a:ext cx="8869680" cy="1691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3017520"/>
            <a:ext cx="8595360" cy="475488"/>
          </a:xfrm>
          <a:prstGeom prst="rect">
            <a:avLst/>
          </a:prstGeom>
          <a:solidFill>
            <a:srgbClr val="1A5276"/>
          </a:solidFill>
          <a:ln w="508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20040" y="3017520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96112" y="30540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AgentCore Memory: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51760" y="3072384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Extraction jobs turn conversation transcripts into durable facts. New sessions recall user preferences without re-explaining.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3538728"/>
            <a:ext cx="8595360" cy="475488"/>
          </a:xfrm>
          <a:prstGeom prst="rect">
            <a:avLst/>
          </a:prstGeom>
          <a:solidFill>
            <a:srgbClr val="0E7490"/>
          </a:solidFill>
          <a:ln w="508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0040" y="353872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👁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96112" y="357530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Observability: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651760" y="359359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OpenTelemetry spans — rag.query → rag.embed → rag.retrieve → rag.generate — all visible in CloudWatch X-Ray.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4059936"/>
            <a:ext cx="8595360" cy="475488"/>
          </a:xfrm>
          <a:prstGeom prst="rect">
            <a:avLst/>
          </a:prstGeom>
          <a:solidFill>
            <a:srgbClr val="166534"/>
          </a:solidFill>
          <a:ln w="508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20040" y="405993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96112" y="40965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 Evaluation: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651760" y="411480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RAG Triad: Context Relevance + Faithfulness + Answer Relevance. Run in CI/CD with quality thresholds (e.g. faithfulness &gt; 0.80).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4320" y="4581144"/>
            <a:ext cx="8595360" cy="475488"/>
          </a:xfrm>
          <a:prstGeom prst="rect">
            <a:avLst/>
          </a:prstGeom>
          <a:solidFill>
            <a:srgbClr val="5B21B6"/>
          </a:solidFill>
          <a:ln w="508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20040" y="4581144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96112" y="461772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Gateway Tool: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2651760" y="46360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Expose the KB as an MCP tool via AgentCore Gateway. Any agent, any framework can discover and call it with Cedar policy controls.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E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8BDF8"/>
                </a:solidFill>
              </a:rPr>
              <a:t>AWS SERVICES USED IN THIS WORKSHOP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51960" cy="1261872"/>
          </a:xfrm>
          <a:prstGeom prst="rect">
            <a:avLst/>
          </a:prstGeom>
          <a:solidFill>
            <a:srgbClr val="1A5276"/>
          </a:solidFill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9326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Amazon Bedrock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2801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Foundation models, Knowledge Bases, AgentCore Runtime &amp; Memory, Gateway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251960" cy="1261872"/>
          </a:xfrm>
          <a:prstGeom prst="rect">
            <a:avLst/>
          </a:prstGeom>
          <a:solidFill>
            <a:srgbClr val="0E7490"/>
          </a:solidFill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00600" y="960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623560" y="9326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OpenSearch Serverless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23560" y="128016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Managed vector index with HNSW — powers hybrid search in Stage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240280"/>
            <a:ext cx="4251960" cy="1261872"/>
          </a:xfrm>
          <a:prstGeom prst="rect">
            <a:avLst/>
          </a:prstGeom>
          <a:solidFill>
            <a:srgbClr val="1E4D78"/>
          </a:solidFill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377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🪣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143000" y="23500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Amazon S3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6974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Document data source for Bedrock Knowledge Base ingestion pipeline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240280"/>
            <a:ext cx="4251960" cy="1261872"/>
          </a:xfrm>
          <a:prstGeom prst="rect">
            <a:avLst/>
          </a:prstGeom>
          <a:solidFill>
            <a:srgbClr val="166534"/>
          </a:solidFill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2377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623560" y="235000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Amazon ECR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23560" y="269748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Container registry for Strands agent Docker images in Stage 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3657600"/>
            <a:ext cx="4251960" cy="1261872"/>
          </a:xfrm>
          <a:prstGeom prst="rect">
            <a:avLst/>
          </a:prstGeom>
          <a:solidFill>
            <a:srgbClr val="5B21B6"/>
          </a:solidFill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3794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🔐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143000" y="37673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AWS IAM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1148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Least-privilege execution roles for Bedrock, ECR, CloudWatch access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657600"/>
            <a:ext cx="4251960" cy="1261872"/>
          </a:xfrm>
          <a:prstGeom prst="rect">
            <a:avLst/>
          </a:prstGeom>
          <a:solidFill>
            <a:srgbClr val="7C3AED"/>
          </a:solidFill>
          <a:ln w="9525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3794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623560" y="37673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CloudWatch + X-Ray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23560" y="41148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Logs, metrics, and distributed traces for the production pipeline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13716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38BDF8"/>
                </a:solidFill>
              </a:rPr>
              <a:t>GET STARTED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Quick Start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1261872"/>
            <a:ext cx="3429000" cy="50292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135331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</a:rPr>
              <a:t>aws sso login --profile &lt;profile&gt;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810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Authenticate to AWS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67128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2130552"/>
            <a:ext cx="3429000" cy="50292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222199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</a:rPr>
              <a:t>pip install -r requirements.txt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6791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Install dependencies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035808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2999232"/>
            <a:ext cx="3429000" cy="50292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30906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</a:rPr>
              <a:t>python stage0-setup/00_check_prerequisites.py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Verify env &amp; model access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904488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904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3867912"/>
            <a:ext cx="3429000" cy="50292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68680" y="395935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</a:rPr>
              <a:t>cd stage1-basic-rag &amp;&amp; python 01_chunk_and_embed.py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4416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Build your first RAG pipeline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80467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Prerequisites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63440" y="1261872"/>
            <a:ext cx="4251960" cy="566928"/>
          </a:xfrm>
          <a:prstGeom prst="rect">
            <a:avLst/>
          </a:prstGeom>
          <a:solidFill>
            <a:srgbClr val="0E3A5C"/>
          </a:solidFill>
          <a:ln w="635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09160" y="126187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🐍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39512" y="137160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Python 3.10+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1920240"/>
            <a:ext cx="4251960" cy="566928"/>
          </a:xfrm>
          <a:prstGeom prst="rect">
            <a:avLst/>
          </a:prstGeom>
          <a:solidFill>
            <a:srgbClr val="0E3A5C"/>
          </a:solidFill>
          <a:ln w="635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09160" y="192024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☁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39512" y="202996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AWS CLI v2 + IAM Identity Center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578608"/>
            <a:ext cx="4251960" cy="566928"/>
          </a:xfrm>
          <a:prstGeom prst="rect">
            <a:avLst/>
          </a:prstGeom>
          <a:solidFill>
            <a:srgbClr val="0E3A5C"/>
          </a:solidFill>
          <a:ln w="635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09160" y="257860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🐳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239512" y="268833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Docker 24+ (Stage 3 only)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236976"/>
            <a:ext cx="4251960" cy="566928"/>
          </a:xfrm>
          <a:prstGeom prst="rect">
            <a:avLst/>
          </a:prstGeom>
          <a:solidFill>
            <a:srgbClr val="0E3A5C"/>
          </a:solidFill>
          <a:ln w="635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09160" y="323697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🌎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239512" y="33467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Region: us-east-1 (model availability)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3895344"/>
            <a:ext cx="4251960" cy="566928"/>
          </a:xfrm>
          <a:prstGeom prst="rect">
            <a:avLst/>
          </a:prstGeom>
          <a:solidFill>
            <a:srgbClr val="0E3A5C"/>
          </a:solidFill>
          <a:ln w="635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09160" y="389534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239512" y="400507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Bedrock model access: Titan Embed V2, Claude 3 Haiku, Claude 3.5 Sonnet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28600" y="4617720"/>
            <a:ext cx="868680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</a:rPr>
              <a:t>💰 Cost:  </a:t>
            </a:r>
            <a:r>
              <a:rPr lang="en-US" sz="1100" dirty="0">
                <a:solidFill>
                  <a:srgbClr val="94A3B8"/>
                </a:solidFill>
              </a:rPr>
              <a:t>Stages 0-1: &lt; $0.10  |  Stage 2: ~$0.70/hr (OpenSearch)  |  Stage 3: ~$0.10/hr  |  Stage 4: ~$0.05/hr  — </a:t>
            </a:r>
            <a:r>
              <a:rPr lang="en-US" sz="1100" b="1" dirty="0">
                <a:solidFill>
                  <a:srgbClr val="FFFFFF"/>
                </a:solidFill>
              </a:rPr>
              <a:t>run cleanup.py between stages!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840</Words>
  <Application>Microsoft Office PowerPoint</Application>
  <PresentationFormat>On-screen Show (16:9)</PresentationFormat>
  <Paragraphs>171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RAG with Amazon Bedrock AgentCore</dc:title>
  <dc:subject>PptxGenJS Presentation</dc:subject>
  <dc:creator>PptxGenJS</dc:creator>
  <cp:lastModifiedBy>Alp Tuna</cp:lastModifiedBy>
  <cp:revision>5</cp:revision>
  <dcterms:created xsi:type="dcterms:W3CDTF">2026-06-22T10:40:46Z</dcterms:created>
  <dcterms:modified xsi:type="dcterms:W3CDTF">2026-07-08T05:29:43Z</dcterms:modified>
</cp:coreProperties>
</file>